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Amar Shohor is a platform connecting citizens and city authorities to report, map and resolve urban problems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Cities deal with recurring problems across roads, drainage, waste, lighting, traffic, sidewalks and the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reporting channels are fragmented, disconnected from location, hard to prioritize, and opaque to citizens.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Amar Shohor turns scattered citizen reports into one shared, verified, prioritized view of city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simple steps take a citizen's observation to a resolved, verified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Citizens gain a fast, transparent way to be heard. Authorities gain clear priorities, less duplication, and measurable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platform combines HTML, CSS, JavaScript and React on the frontend; Node.js, Express and MongoDB on the backend; OpenStreetMap, Leaflet and GeoJSON for mapping; and Python-based machine learning for AI-assisted 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548640"/>
            <a:ext cx="0" cy="7955280"/>
          </a:xfrm>
          <a:prstGeom prst="line">
            <a:avLst/>
          </a:prstGeom>
          <a:noFill/>
          <a:ln w="17780">
            <a:solidFill>
              <a:srgbClr val="1635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10144" y="-548640"/>
            <a:ext cx="0" cy="7955280"/>
          </a:xfrm>
          <a:prstGeom prst="line">
            <a:avLst/>
          </a:prstGeom>
          <a:noFill/>
          <a:ln w="17780">
            <a:solidFill>
              <a:srgbClr val="1635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45168" y="-548640"/>
            <a:ext cx="0" cy="7955280"/>
          </a:xfrm>
          <a:prstGeom prst="line">
            <a:avLst/>
          </a:prstGeom>
          <a:noFill/>
          <a:ln w="17780">
            <a:solidFill>
              <a:srgbClr val="1635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80192" y="-548640"/>
            <a:ext cx="0" cy="7955280"/>
          </a:xfrm>
          <a:prstGeom prst="line">
            <a:avLst/>
          </a:prstGeom>
          <a:noFill/>
          <a:ln w="17780">
            <a:solidFill>
              <a:srgbClr val="1635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15216" y="-548640"/>
            <a:ext cx="0" cy="7955280"/>
          </a:xfrm>
          <a:prstGeom prst="line">
            <a:avLst/>
          </a:prstGeom>
          <a:noFill/>
          <a:ln w="17780">
            <a:solidFill>
              <a:srgbClr val="1635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350240" y="-548640"/>
            <a:ext cx="0" cy="7955280"/>
          </a:xfrm>
          <a:prstGeom prst="line">
            <a:avLst/>
          </a:prstGeom>
          <a:noFill/>
          <a:ln w="17780">
            <a:solidFill>
              <a:srgbClr val="1635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0" y="-548640"/>
            <a:ext cx="6675120" cy="0"/>
          </a:xfrm>
          <a:prstGeom prst="line">
            <a:avLst/>
          </a:prstGeom>
          <a:noFill/>
          <a:ln w="17780">
            <a:solidFill>
              <a:srgbClr val="1635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0" y="1042416"/>
            <a:ext cx="6675120" cy="0"/>
          </a:xfrm>
          <a:prstGeom prst="line">
            <a:avLst/>
          </a:prstGeom>
          <a:noFill/>
          <a:ln w="17780">
            <a:solidFill>
              <a:srgbClr val="1635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2633472"/>
            <a:ext cx="6675120" cy="0"/>
          </a:xfrm>
          <a:prstGeom prst="line">
            <a:avLst/>
          </a:prstGeom>
          <a:noFill/>
          <a:ln w="17780">
            <a:solidFill>
              <a:srgbClr val="1635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4224528"/>
            <a:ext cx="6675120" cy="0"/>
          </a:xfrm>
          <a:prstGeom prst="line">
            <a:avLst/>
          </a:prstGeom>
          <a:noFill/>
          <a:ln w="17780">
            <a:solidFill>
              <a:srgbClr val="1635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5815584"/>
            <a:ext cx="6675120" cy="0"/>
          </a:xfrm>
          <a:prstGeom prst="line">
            <a:avLst/>
          </a:prstGeom>
          <a:noFill/>
          <a:ln w="17780">
            <a:solidFill>
              <a:srgbClr val="1635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7406640"/>
            <a:ext cx="6675120" cy="0"/>
          </a:xfrm>
          <a:prstGeom prst="line">
            <a:avLst/>
          </a:prstGeom>
          <a:noFill/>
          <a:ln w="17780">
            <a:solidFill>
              <a:srgbClr val="1635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6172200"/>
            <a:ext cx="566928" cy="502920"/>
          </a:xfrm>
          <a:prstGeom prst="rect">
            <a:avLst/>
          </a:prstGeom>
          <a:solidFill>
            <a:srgbClr val="16354F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936992" y="5897880"/>
            <a:ext cx="457200" cy="777240"/>
          </a:xfrm>
          <a:prstGeom prst="rect">
            <a:avLst/>
          </a:prstGeom>
          <a:solidFill>
            <a:srgbClr val="16354F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49056" y="6309360"/>
            <a:ext cx="384048" cy="365760"/>
          </a:xfrm>
          <a:prstGeom prst="rect">
            <a:avLst/>
          </a:prstGeom>
          <a:solidFill>
            <a:srgbClr val="16354F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887968" y="5760720"/>
            <a:ext cx="530352" cy="914400"/>
          </a:xfrm>
          <a:prstGeom prst="rect">
            <a:avLst/>
          </a:prstGeom>
          <a:solidFill>
            <a:srgbClr val="16354F">
              <a:alpha val="8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473184" y="6080760"/>
            <a:ext cx="420624" cy="594360"/>
          </a:xfrm>
          <a:prstGeom prst="rect">
            <a:avLst/>
          </a:prstGeom>
          <a:solidFill>
            <a:srgbClr val="16354F">
              <a:alpha val="8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948672" y="6217920"/>
            <a:ext cx="365760" cy="457200"/>
          </a:xfrm>
          <a:prstGeom prst="rect">
            <a:avLst/>
          </a:prstGeom>
          <a:solidFill>
            <a:srgbClr val="16354F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369296" y="5833872"/>
            <a:ext cx="502920" cy="841248"/>
          </a:xfrm>
          <a:prstGeom prst="rect">
            <a:avLst/>
          </a:prstGeom>
          <a:solidFill>
            <a:srgbClr val="16354F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927080" y="6355080"/>
            <a:ext cx="365760" cy="320040"/>
          </a:xfrm>
          <a:prstGeom prst="rect">
            <a:avLst/>
          </a:prstGeom>
          <a:solidFill>
            <a:srgbClr val="16354F">
              <a:alpha val="8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0" y="6172200"/>
            <a:ext cx="566928" cy="502920"/>
          </a:xfrm>
          <a:prstGeom prst="rect">
            <a:avLst/>
          </a:prstGeom>
          <a:solidFill>
            <a:srgbClr val="1B3F5E">
              <a:alpha val="9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034272" y="5897880"/>
            <a:ext cx="457200" cy="777240"/>
          </a:xfrm>
          <a:prstGeom prst="rect">
            <a:avLst/>
          </a:prstGeom>
          <a:solidFill>
            <a:srgbClr val="1B3F5E">
              <a:alpha val="9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546336" y="6309360"/>
            <a:ext cx="384048" cy="365760"/>
          </a:xfrm>
          <a:prstGeom prst="rect">
            <a:avLst/>
          </a:prstGeom>
          <a:solidFill>
            <a:srgbClr val="1B3F5E">
              <a:alpha val="9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985248" y="5760720"/>
            <a:ext cx="530352" cy="914400"/>
          </a:xfrm>
          <a:prstGeom prst="rect">
            <a:avLst/>
          </a:prstGeom>
          <a:solidFill>
            <a:srgbClr val="1B3F5E">
              <a:alpha val="9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570464" y="6080760"/>
            <a:ext cx="420624" cy="594360"/>
          </a:xfrm>
          <a:prstGeom prst="rect">
            <a:avLst/>
          </a:prstGeom>
          <a:solidFill>
            <a:srgbClr val="1B3F5E">
              <a:alpha val="9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045952" y="6217920"/>
            <a:ext cx="365760" cy="457200"/>
          </a:xfrm>
          <a:prstGeom prst="rect">
            <a:avLst/>
          </a:prstGeom>
          <a:solidFill>
            <a:srgbClr val="1B3F5E">
              <a:alpha val="9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466576" y="5833872"/>
            <a:ext cx="502920" cy="841248"/>
          </a:xfrm>
          <a:prstGeom prst="rect">
            <a:avLst/>
          </a:prstGeom>
          <a:solidFill>
            <a:srgbClr val="1B3F5E">
              <a:alpha val="9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2024360" y="6355080"/>
            <a:ext cx="365760" cy="320040"/>
          </a:xfrm>
          <a:prstGeom prst="rect">
            <a:avLst/>
          </a:prstGeom>
          <a:solidFill>
            <a:srgbClr val="1B3F5E">
              <a:alpha val="9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366760" y="1508760"/>
            <a:ext cx="1060704" cy="1060704"/>
          </a:xfrm>
          <a:prstGeom prst="ellipse">
            <a:avLst/>
          </a:prstGeom>
          <a:solidFill>
            <a:srgbClr val="F2A03D">
              <a:alpha val="2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732520" y="1874520"/>
            <a:ext cx="365760" cy="365760"/>
          </a:xfrm>
          <a:prstGeom prst="ellipse">
            <a:avLst/>
          </a:prstGeom>
          <a:solidFill>
            <a:srgbClr val="F2A03D"/>
          </a:solidFill>
          <a:ln/>
        </p:spPr>
      </p:sp>
      <p:sp>
        <p:nvSpPr>
          <p:cNvPr id="32" name="Shape 30"/>
          <p:cNvSpPr/>
          <p:nvPr/>
        </p:nvSpPr>
        <p:spPr>
          <a:xfrm>
            <a:off x="9921240" y="2606040"/>
            <a:ext cx="795528" cy="795528"/>
          </a:xfrm>
          <a:prstGeom prst="ellipse">
            <a:avLst/>
          </a:prstGeom>
          <a:solidFill>
            <a:srgbClr val="7FB8C2">
              <a:alpha val="2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195560" y="2880360"/>
            <a:ext cx="274320" cy="274320"/>
          </a:xfrm>
          <a:prstGeom prst="ellipse">
            <a:avLst/>
          </a:prstGeom>
          <a:solidFill>
            <a:srgbClr val="7FB8C2"/>
          </a:solidFill>
          <a:ln/>
        </p:spPr>
      </p:sp>
      <p:sp>
        <p:nvSpPr>
          <p:cNvPr id="34" name="Shape 32"/>
          <p:cNvSpPr/>
          <p:nvPr/>
        </p:nvSpPr>
        <p:spPr>
          <a:xfrm>
            <a:off x="9244584" y="1197864"/>
            <a:ext cx="636422" cy="636422"/>
          </a:xfrm>
          <a:prstGeom prst="ellipse">
            <a:avLst/>
          </a:prstGeom>
          <a:solidFill>
            <a:srgbClr val="7FB8C2">
              <a:alpha val="2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464040" y="1417320"/>
            <a:ext cx="219456" cy="219456"/>
          </a:xfrm>
          <a:prstGeom prst="ellipse">
            <a:avLst/>
          </a:prstGeom>
          <a:solidFill>
            <a:srgbClr val="7FB8C2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17373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SMARTER WAY TO REPORT &amp; FIX CITY PROBLEMS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77240" y="210312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 Shohor</a:t>
            </a:r>
            <a:endParaRPr lang="en-US" sz="6600" dirty="0"/>
          </a:p>
        </p:txBody>
      </p:sp>
      <p:sp>
        <p:nvSpPr>
          <p:cNvPr id="38" name="Shape 36"/>
          <p:cNvSpPr/>
          <p:nvPr/>
        </p:nvSpPr>
        <p:spPr>
          <a:xfrm>
            <a:off x="822960" y="3246120"/>
            <a:ext cx="2011680" cy="27432"/>
          </a:xfrm>
          <a:prstGeom prst="rect">
            <a:avLst/>
          </a:prstGeom>
          <a:solidFill>
            <a:srgbClr val="F2A03D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35204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where citizens report city problems, and the city sees, prioritizes, and resolves them — together.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22960" y="4617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7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vision: a city where every problem is seen, tracked, and solved.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cities face problems every 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Potholes, waterlogging, garbage, broken lights — often left unreported or unresolved for weeks.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2A4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2404872"/>
            <a:ext cx="777240" cy="77724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8615" y="2614727"/>
            <a:ext cx="357530" cy="357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roads &amp; potholes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01568" y="214884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2A4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70248" y="2404872"/>
            <a:ext cx="777240" cy="77724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103" y="2614727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Waterlogging &amp; drainage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163056" y="214884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2A43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031736" y="2404872"/>
            <a:ext cx="777240" cy="77724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591" y="2614727"/>
            <a:ext cx="357530" cy="3575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0216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accumulation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924544" y="214884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2A43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793224" y="2404872"/>
            <a:ext cx="777240" cy="77724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079" y="2614727"/>
            <a:ext cx="357530" cy="35753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61704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streetlights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40080" y="40233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2A43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508760" y="4279392"/>
            <a:ext cx="777240" cy="77724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8615" y="4489247"/>
            <a:ext cx="357530" cy="35753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7240" y="5120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traffic signals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3401568" y="40233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2A43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270248" y="4279392"/>
            <a:ext cx="777240" cy="77724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103" y="4489247"/>
            <a:ext cx="357530" cy="35753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538728" y="5120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Sidewalk damage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6163056" y="40233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2A43">
                <a:alpha val="12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7031736" y="4279392"/>
            <a:ext cx="777240" cy="77724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1591" y="4489247"/>
            <a:ext cx="357530" cy="35753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300216" y="5120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congestion</a:t>
            </a:r>
            <a:endParaRPr lang="en-US" sz="1250" dirty="0"/>
          </a:p>
        </p:txBody>
      </p:sp>
      <p:sp>
        <p:nvSpPr>
          <p:cNvPr id="33" name="Shape 24"/>
          <p:cNvSpPr/>
          <p:nvPr/>
        </p:nvSpPr>
        <p:spPr>
          <a:xfrm>
            <a:off x="8924544" y="40233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2A43">
                <a:alpha val="12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9793224" y="4279392"/>
            <a:ext cx="777240" cy="77724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3079" y="4489247"/>
            <a:ext cx="357530" cy="35753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061704" y="5120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hazards</a:t>
            </a:r>
            <a:endParaRPr lang="en-US" sz="1250" dirty="0"/>
          </a:p>
        </p:txBody>
      </p:sp>
      <p:sp>
        <p:nvSpPr>
          <p:cNvPr id="37" name="Text 27"/>
          <p:cNvSpPr/>
          <p:nvPr/>
        </p:nvSpPr>
        <p:spPr>
          <a:xfrm>
            <a:off x="112471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4846320"/>
            <a:ext cx="0" cy="2377440"/>
          </a:xfrm>
          <a:prstGeom prst="line">
            <a:avLst/>
          </a:prstGeom>
          <a:noFill/>
          <a:ln w="12700">
            <a:solidFill>
              <a:srgbClr val="1331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" y="4846320"/>
            <a:ext cx="0" cy="2377440"/>
          </a:xfrm>
          <a:prstGeom prst="line">
            <a:avLst/>
          </a:prstGeom>
          <a:noFill/>
          <a:ln w="12700">
            <a:solidFill>
              <a:srgbClr val="1331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76272" y="4846320"/>
            <a:ext cx="0" cy="2377440"/>
          </a:xfrm>
          <a:prstGeom prst="line">
            <a:avLst/>
          </a:prstGeom>
          <a:noFill/>
          <a:ln w="12700">
            <a:solidFill>
              <a:srgbClr val="1331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93008" y="4846320"/>
            <a:ext cx="0" cy="2377440"/>
          </a:xfrm>
          <a:prstGeom prst="line">
            <a:avLst/>
          </a:prstGeom>
          <a:noFill/>
          <a:ln w="12700">
            <a:solidFill>
              <a:srgbClr val="1331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09744" y="4846320"/>
            <a:ext cx="0" cy="2377440"/>
          </a:xfrm>
          <a:prstGeom prst="line">
            <a:avLst/>
          </a:prstGeom>
          <a:noFill/>
          <a:ln w="12700">
            <a:solidFill>
              <a:srgbClr val="1331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4846320"/>
            <a:ext cx="0" cy="2377440"/>
          </a:xfrm>
          <a:prstGeom prst="line">
            <a:avLst/>
          </a:prstGeom>
          <a:noFill/>
          <a:ln w="12700">
            <a:solidFill>
              <a:srgbClr val="1331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43216" y="4846320"/>
            <a:ext cx="0" cy="2377440"/>
          </a:xfrm>
          <a:prstGeom prst="line">
            <a:avLst/>
          </a:prstGeom>
          <a:noFill/>
          <a:ln w="12700">
            <a:solidFill>
              <a:srgbClr val="1331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59952" y="4846320"/>
            <a:ext cx="0" cy="2377440"/>
          </a:xfrm>
          <a:prstGeom prst="line">
            <a:avLst/>
          </a:prstGeom>
          <a:noFill/>
          <a:ln w="12700">
            <a:solidFill>
              <a:srgbClr val="1331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76688" y="4846320"/>
            <a:ext cx="0" cy="2377440"/>
          </a:xfrm>
          <a:prstGeom prst="line">
            <a:avLst/>
          </a:prstGeom>
          <a:noFill/>
          <a:ln w="12700">
            <a:solidFill>
              <a:srgbClr val="1331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93424" y="4846320"/>
            <a:ext cx="0" cy="2377440"/>
          </a:xfrm>
          <a:prstGeom prst="line">
            <a:avLst/>
          </a:prstGeom>
          <a:noFill/>
          <a:ln w="12700">
            <a:solidFill>
              <a:srgbClr val="1331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710160" y="4846320"/>
            <a:ext cx="0" cy="2377440"/>
          </a:xfrm>
          <a:prstGeom prst="line">
            <a:avLst/>
          </a:prstGeom>
          <a:noFill/>
          <a:ln w="12700">
            <a:solidFill>
              <a:srgbClr val="1331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457200" y="4846320"/>
            <a:ext cx="13167360" cy="0"/>
          </a:xfrm>
          <a:prstGeom prst="line">
            <a:avLst/>
          </a:prstGeom>
          <a:noFill/>
          <a:ln w="12700">
            <a:solidFill>
              <a:srgbClr val="1331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-457200" y="6035040"/>
            <a:ext cx="13167360" cy="0"/>
          </a:xfrm>
          <a:prstGeom prst="line">
            <a:avLst/>
          </a:prstGeom>
          <a:noFill/>
          <a:ln w="12700">
            <a:solidFill>
              <a:srgbClr val="1331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-457200" y="7223760"/>
            <a:ext cx="13167360" cy="0"/>
          </a:xfrm>
          <a:prstGeom prst="line">
            <a:avLst/>
          </a:prstGeom>
          <a:noFill/>
          <a:ln w="12700">
            <a:solidFill>
              <a:srgbClr val="1331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ISN'T WORKING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today leads nowhere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621792" y="1965960"/>
            <a:ext cx="1975104" cy="2606040"/>
          </a:xfrm>
          <a:prstGeom prst="roundRect">
            <a:avLst>
              <a:gd name="adj" fmla="val 4630"/>
            </a:avLst>
          </a:prstGeom>
          <a:solidFill>
            <a:srgbClr val="16354F"/>
          </a:solidFill>
          <a:ln/>
        </p:spPr>
      </p:sp>
      <p:sp>
        <p:nvSpPr>
          <p:cNvPr id="19" name="Shape 17"/>
          <p:cNvSpPr/>
          <p:nvPr/>
        </p:nvSpPr>
        <p:spPr>
          <a:xfrm>
            <a:off x="1335024" y="2286000"/>
            <a:ext cx="594360" cy="59436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501" y="2446477"/>
            <a:ext cx="273406" cy="27340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86384" y="306324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5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 reported again and again, with no way to connect them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871216" y="1965960"/>
            <a:ext cx="1975104" cy="2606040"/>
          </a:xfrm>
          <a:prstGeom prst="roundRect">
            <a:avLst>
              <a:gd name="adj" fmla="val 4630"/>
            </a:avLst>
          </a:prstGeom>
          <a:solidFill>
            <a:srgbClr val="16354F"/>
          </a:solidFill>
          <a:ln/>
        </p:spPr>
      </p:sp>
      <p:sp>
        <p:nvSpPr>
          <p:cNvPr id="23" name="Shape 20"/>
          <p:cNvSpPr/>
          <p:nvPr/>
        </p:nvSpPr>
        <p:spPr>
          <a:xfrm>
            <a:off x="3584448" y="2286000"/>
            <a:ext cx="594360" cy="59436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925" y="2446477"/>
            <a:ext cx="273406" cy="27340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035808" y="306324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5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lack a clear place on a map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120640" y="1965960"/>
            <a:ext cx="1975104" cy="2606040"/>
          </a:xfrm>
          <a:prstGeom prst="roundRect">
            <a:avLst>
              <a:gd name="adj" fmla="val 4630"/>
            </a:avLst>
          </a:prstGeom>
          <a:solidFill>
            <a:srgbClr val="16354F"/>
          </a:solidFill>
          <a:ln/>
        </p:spPr>
      </p:sp>
      <p:sp>
        <p:nvSpPr>
          <p:cNvPr id="27" name="Shape 23"/>
          <p:cNvSpPr/>
          <p:nvPr/>
        </p:nvSpPr>
        <p:spPr>
          <a:xfrm>
            <a:off x="5833872" y="2286000"/>
            <a:ext cx="594360" cy="594360"/>
          </a:xfrm>
          <a:prstGeom prst="ellipse">
            <a:avLst/>
          </a:prstGeom>
          <a:solidFill>
            <a:srgbClr val="F2A03D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349" y="2446477"/>
            <a:ext cx="273406" cy="27340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285232" y="306324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5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tell which problems are most urgent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7370064" y="1965960"/>
            <a:ext cx="1975104" cy="2606040"/>
          </a:xfrm>
          <a:prstGeom prst="roundRect">
            <a:avLst>
              <a:gd name="adj" fmla="val 4630"/>
            </a:avLst>
          </a:prstGeom>
          <a:solidFill>
            <a:srgbClr val="16354F"/>
          </a:solidFill>
          <a:ln/>
        </p:spPr>
      </p:sp>
      <p:sp>
        <p:nvSpPr>
          <p:cNvPr id="31" name="Shape 26"/>
          <p:cNvSpPr/>
          <p:nvPr/>
        </p:nvSpPr>
        <p:spPr>
          <a:xfrm>
            <a:off x="8083296" y="2286000"/>
            <a:ext cx="594360" cy="59436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3773" y="2446477"/>
            <a:ext cx="273406" cy="27340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534656" y="306324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5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never know what happens after they report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9619488" y="1965960"/>
            <a:ext cx="1975104" cy="2606040"/>
          </a:xfrm>
          <a:prstGeom prst="roundRect">
            <a:avLst>
              <a:gd name="adj" fmla="val 4630"/>
            </a:avLst>
          </a:prstGeom>
          <a:solidFill>
            <a:srgbClr val="16354F"/>
          </a:solidFill>
          <a:ln/>
        </p:spPr>
      </p:sp>
      <p:sp>
        <p:nvSpPr>
          <p:cNvPr id="35" name="Shape 29"/>
          <p:cNvSpPr/>
          <p:nvPr/>
        </p:nvSpPr>
        <p:spPr>
          <a:xfrm>
            <a:off x="10332720" y="2286000"/>
            <a:ext cx="594360" cy="59436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3197" y="2446477"/>
            <a:ext cx="273406" cy="27340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784080" y="306324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5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take a long time, with no visible progress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640080" y="5120640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112E45"/>
          </a:solidFill>
          <a:ln/>
        </p:spPr>
      </p:sp>
      <p:sp>
        <p:nvSpPr>
          <p:cNvPr id="39" name="Text 32"/>
          <p:cNvSpPr/>
          <p:nvPr/>
        </p:nvSpPr>
        <p:spPr>
          <a:xfrm>
            <a:off x="914400" y="5120640"/>
            <a:ext cx="10378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frustrated citizens, overloaded authorities, and problems that just don't get fixed.</a:t>
            </a:r>
            <a:endParaRPr lang="en-US" sz="1450" dirty="0"/>
          </a:p>
        </p:txBody>
      </p:sp>
      <p:sp>
        <p:nvSpPr>
          <p:cNvPr id="40" name="Text 33"/>
          <p:cNvSpPr/>
          <p:nvPr/>
        </p:nvSpPr>
        <p:spPr>
          <a:xfrm>
            <a:off x="112471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2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 Shohor: one map, one shared truth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0" cy="4114800"/>
          </a:xfrm>
          <a:prstGeom prst="roundRect">
            <a:avLst>
              <a:gd name="adj" fmla="val 2667"/>
            </a:avLst>
          </a:prstGeom>
          <a:solidFill>
            <a:srgbClr val="0F2A43"/>
          </a:solidFill>
          <a:ln/>
          <a:effectLst>
            <a:outerShdw sx="100000" sy="100000" kx="0" ky="0" algn="bl" rotWithShape="0" blurRad="127000" dist="25400" dir="5400000">
              <a:srgbClr val="0F2A4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48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REPORTS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88720" y="2606040"/>
            <a:ext cx="201168" cy="201168"/>
          </a:xfrm>
          <a:prstGeom prst="ellipse">
            <a:avLst/>
          </a:prstGeom>
          <a:solidFill>
            <a:srgbClr val="7FB8C2"/>
          </a:solidFill>
          <a:ln/>
        </p:spPr>
      </p:sp>
      <p:sp>
        <p:nvSpPr>
          <p:cNvPr id="7" name="Shape 5"/>
          <p:cNvSpPr/>
          <p:nvPr/>
        </p:nvSpPr>
        <p:spPr>
          <a:xfrm>
            <a:off x="1600200" y="2788920"/>
            <a:ext cx="201168" cy="201168"/>
          </a:xfrm>
          <a:prstGeom prst="ellipse">
            <a:avLst/>
          </a:prstGeom>
          <a:solidFill>
            <a:srgbClr val="7FB8C2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3017520"/>
            <a:ext cx="201168" cy="201168"/>
          </a:xfrm>
          <a:prstGeom prst="ellipse">
            <a:avLst/>
          </a:prstGeom>
          <a:solidFill>
            <a:srgbClr val="7FB8C2"/>
          </a:solidFill>
          <a:ln/>
        </p:spPr>
      </p:sp>
      <p:sp>
        <p:nvSpPr>
          <p:cNvPr id="9" name="Shape 7"/>
          <p:cNvSpPr/>
          <p:nvPr/>
        </p:nvSpPr>
        <p:spPr>
          <a:xfrm>
            <a:off x="1737360" y="2468880"/>
            <a:ext cx="201168" cy="201168"/>
          </a:xfrm>
          <a:prstGeom prst="ellipse">
            <a:avLst/>
          </a:prstGeom>
          <a:solidFill>
            <a:srgbClr val="7FB8C2"/>
          </a:solidFill>
          <a:ln/>
        </p:spPr>
      </p:sp>
      <p:sp>
        <p:nvSpPr>
          <p:cNvPr id="10" name="Shape 8"/>
          <p:cNvSpPr/>
          <p:nvPr/>
        </p:nvSpPr>
        <p:spPr>
          <a:xfrm>
            <a:off x="1417320" y="2971800"/>
            <a:ext cx="201168" cy="201168"/>
          </a:xfrm>
          <a:prstGeom prst="ellipse">
            <a:avLst/>
          </a:prstGeom>
          <a:solidFill>
            <a:srgbClr val="7FB8C2"/>
          </a:solidFill>
          <a:ln/>
        </p:spPr>
      </p:sp>
      <p:sp>
        <p:nvSpPr>
          <p:cNvPr id="11" name="Shape 9"/>
          <p:cNvSpPr/>
          <p:nvPr/>
        </p:nvSpPr>
        <p:spPr>
          <a:xfrm>
            <a:off x="1965960" y="2743200"/>
            <a:ext cx="201168" cy="201168"/>
          </a:xfrm>
          <a:prstGeom prst="ellipse">
            <a:avLst/>
          </a:prstGeom>
          <a:solidFill>
            <a:srgbClr val="7FB8C2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2788920"/>
            <a:ext cx="201168" cy="201168"/>
          </a:xfrm>
          <a:prstGeom prst="ellipse">
            <a:avLst/>
          </a:prstGeom>
          <a:solidFill>
            <a:srgbClr val="7FB8C2"/>
          </a:solidFill>
          <a:ln/>
        </p:spPr>
      </p:sp>
      <p:sp>
        <p:nvSpPr>
          <p:cNvPr id="13" name="Shape 11"/>
          <p:cNvSpPr/>
          <p:nvPr/>
        </p:nvSpPr>
        <p:spPr>
          <a:xfrm>
            <a:off x="1828800" y="3063240"/>
            <a:ext cx="201168" cy="201168"/>
          </a:xfrm>
          <a:prstGeom prst="ellipse">
            <a:avLst/>
          </a:prstGeom>
          <a:solidFill>
            <a:srgbClr val="7FB8C2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3246120"/>
            <a:ext cx="411480" cy="4114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280160" y="379476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F2A03D"/>
          </a:solidFill>
          <a:ln/>
        </p:spPr>
      </p:sp>
      <p:sp>
        <p:nvSpPr>
          <p:cNvPr id="16" name="Text 13"/>
          <p:cNvSpPr/>
          <p:nvPr/>
        </p:nvSpPr>
        <p:spPr>
          <a:xfrm>
            <a:off x="1280160" y="3794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VERIFIED PROBLEM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60120" y="48006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 Shohor connects duplicate reports into a single problem, placed on the map and tracked until it's resolved.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989320" y="2011680"/>
            <a:ext cx="548640" cy="54864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453" y="2159813"/>
            <a:ext cx="252374" cy="25237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20840" y="2011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problem on a live map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989320" y="2999232"/>
            <a:ext cx="548640" cy="54864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453" y="3147365"/>
            <a:ext cx="252374" cy="2523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720840" y="29992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priority — worst problems first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5989320" y="3986784"/>
            <a:ext cx="548640" cy="54864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7453" y="4134917"/>
            <a:ext cx="252374" cy="25237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20840" y="398678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by the community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5989320" y="4974336"/>
            <a:ext cx="548640" cy="54864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453" y="5122469"/>
            <a:ext cx="252374" cy="25237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720840" y="497433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Tracked from report to resolution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112471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citizen's report to a resolved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1783080" cy="2514600"/>
          </a:xfrm>
          <a:prstGeom prst="roundRect">
            <a:avLst>
              <a:gd name="adj" fmla="val 5128"/>
            </a:avLst>
          </a:prstGeom>
          <a:solidFill>
            <a:srgbClr val="16354F"/>
          </a:solidFill>
          <a:ln/>
        </p:spPr>
      </p:sp>
      <p:sp>
        <p:nvSpPr>
          <p:cNvPr id="5" name="Shape 3"/>
          <p:cNvSpPr/>
          <p:nvPr/>
        </p:nvSpPr>
        <p:spPr>
          <a:xfrm>
            <a:off x="1399032" y="2606040"/>
            <a:ext cx="548640" cy="54864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165" y="275417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337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370332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snaps a photo and pins the location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338328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926080" y="2286000"/>
            <a:ext cx="1783080" cy="2514600"/>
          </a:xfrm>
          <a:prstGeom prst="roundRect">
            <a:avLst>
              <a:gd name="adj" fmla="val 5128"/>
            </a:avLst>
          </a:prstGeom>
          <a:solidFill>
            <a:srgbClr val="16354F"/>
          </a:solidFill>
          <a:ln/>
        </p:spPr>
      </p:sp>
      <p:sp>
        <p:nvSpPr>
          <p:cNvPr id="11" name="Shape 7"/>
          <p:cNvSpPr/>
          <p:nvPr/>
        </p:nvSpPr>
        <p:spPr>
          <a:xfrm>
            <a:off x="3547872" y="2606040"/>
            <a:ext cx="548640" cy="54864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005" y="2754173"/>
            <a:ext cx="252374" cy="25237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17520" y="3337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It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3063240" y="370332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appears on the live city map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38328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074920" y="2286000"/>
            <a:ext cx="1783080" cy="2514600"/>
          </a:xfrm>
          <a:prstGeom prst="roundRect">
            <a:avLst>
              <a:gd name="adj" fmla="val 5128"/>
            </a:avLst>
          </a:prstGeom>
          <a:solidFill>
            <a:srgbClr val="16354F"/>
          </a:solidFill>
          <a:ln/>
        </p:spPr>
      </p:sp>
      <p:sp>
        <p:nvSpPr>
          <p:cNvPr id="17" name="Shape 11"/>
          <p:cNvSpPr/>
          <p:nvPr/>
        </p:nvSpPr>
        <p:spPr>
          <a:xfrm>
            <a:off x="5696712" y="2606040"/>
            <a:ext cx="548640" cy="54864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4845" y="2754173"/>
            <a:ext cx="252374" cy="25237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66360" y="3337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5212080" y="370332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citizens confirm it's real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3383280"/>
            <a:ext cx="274320" cy="2743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223760" y="2286000"/>
            <a:ext cx="1783080" cy="2514600"/>
          </a:xfrm>
          <a:prstGeom prst="roundRect">
            <a:avLst>
              <a:gd name="adj" fmla="val 5128"/>
            </a:avLst>
          </a:prstGeom>
          <a:solidFill>
            <a:srgbClr val="16354F"/>
          </a:solidFill>
          <a:ln/>
        </p:spPr>
      </p:sp>
      <p:sp>
        <p:nvSpPr>
          <p:cNvPr id="23" name="Shape 15"/>
          <p:cNvSpPr/>
          <p:nvPr/>
        </p:nvSpPr>
        <p:spPr>
          <a:xfrm>
            <a:off x="7845552" y="2606040"/>
            <a:ext cx="548640" cy="54864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3685" y="2754173"/>
            <a:ext cx="252374" cy="25237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315200" y="3337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</a:t>
            </a:r>
            <a:endParaRPr lang="en-US" sz="1550" dirty="0"/>
          </a:p>
        </p:txBody>
      </p:sp>
      <p:sp>
        <p:nvSpPr>
          <p:cNvPr id="26" name="Text 17"/>
          <p:cNvSpPr/>
          <p:nvPr/>
        </p:nvSpPr>
        <p:spPr>
          <a:xfrm>
            <a:off x="7360920" y="370332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authority takes ownership</a:t>
            </a:r>
            <a:endParaRPr lang="en-US" sz="11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2560" y="3383280"/>
            <a:ext cx="274320" cy="27432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372600" y="2286000"/>
            <a:ext cx="1783080" cy="2514600"/>
          </a:xfrm>
          <a:prstGeom prst="roundRect">
            <a:avLst>
              <a:gd name="adj" fmla="val 5128"/>
            </a:avLst>
          </a:prstGeom>
          <a:solidFill>
            <a:srgbClr val="F2A03D"/>
          </a:solidFill>
          <a:ln/>
        </p:spPr>
      </p:sp>
      <p:sp>
        <p:nvSpPr>
          <p:cNvPr id="29" name="Shape 19"/>
          <p:cNvSpPr/>
          <p:nvPr/>
        </p:nvSpPr>
        <p:spPr>
          <a:xfrm>
            <a:off x="9994392" y="2606040"/>
            <a:ext cx="548640" cy="54864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2525" y="2754173"/>
            <a:ext cx="252374" cy="252374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464040" y="3337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</a:t>
            </a:r>
            <a:endParaRPr lang="en-US" sz="1550" dirty="0"/>
          </a:p>
        </p:txBody>
      </p:sp>
      <p:sp>
        <p:nvSpPr>
          <p:cNvPr id="32" name="Text 21"/>
          <p:cNvSpPr/>
          <p:nvPr/>
        </p:nvSpPr>
        <p:spPr>
          <a:xfrm>
            <a:off x="9509760" y="370332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and fix are visible to all</a:t>
            </a:r>
            <a:endParaRPr lang="en-US" sz="1100" dirty="0"/>
          </a:p>
        </p:txBody>
      </p:sp>
      <p:sp>
        <p:nvSpPr>
          <p:cNvPr id="33" name="Text 22"/>
          <p:cNvSpPr/>
          <p:nvPr/>
        </p:nvSpPr>
        <p:spPr>
          <a:xfrm>
            <a:off x="112471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2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citizens and city authorities alike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2A4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594360" cy="594360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597" y="2217877"/>
            <a:ext cx="273406" cy="2734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57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Citizens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60120" y="2834640"/>
            <a:ext cx="457200" cy="457200"/>
          </a:xfrm>
          <a:prstGeom prst="ellipse">
            <a:avLst/>
          </a:prstGeom>
          <a:solidFill>
            <a:srgbClr val="DDE6E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" y="2958084"/>
            <a:ext cx="210312" cy="210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834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 problem in under a minute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960120" y="3630168"/>
            <a:ext cx="457200" cy="457200"/>
          </a:xfrm>
          <a:prstGeom prst="ellipse">
            <a:avLst/>
          </a:prstGeom>
          <a:solidFill>
            <a:srgbClr val="DDE6E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" y="3753612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3630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what's happening nearby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960120" y="4425696"/>
            <a:ext cx="457200" cy="457200"/>
          </a:xfrm>
          <a:prstGeom prst="ellipse">
            <a:avLst/>
          </a:prstGeom>
          <a:solidFill>
            <a:srgbClr val="DDE6EB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" y="4549140"/>
            <a:ext cx="210312" cy="2103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00200" y="44256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updates as the problem is fixed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960120" y="5221224"/>
            <a:ext cx="457200" cy="457200"/>
          </a:xfrm>
          <a:prstGeom prst="ellipse">
            <a:avLst/>
          </a:prstGeom>
          <a:solidFill>
            <a:srgbClr val="DDE6EB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64" y="5344668"/>
            <a:ext cx="210312" cy="2103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600200" y="52212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real voice in city decisions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6263640" y="1783080"/>
            <a:ext cx="5285232" cy="4297680"/>
          </a:xfrm>
          <a:prstGeom prst="roundRect">
            <a:avLst>
              <a:gd name="adj" fmla="val 2553"/>
            </a:avLst>
          </a:prstGeom>
          <a:solidFill>
            <a:srgbClr val="0F2A43"/>
          </a:solidFill>
          <a:ln/>
          <a:effectLst>
            <a:outerShdw sx="100000" sy="100000" kx="0" ky="0" algn="bl" rotWithShape="0" blurRad="127000" dist="25400" dir="5400000">
              <a:srgbClr val="0F2A43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583680" y="2057400"/>
            <a:ext cx="594360" cy="594360"/>
          </a:xfrm>
          <a:prstGeom prst="ellipse">
            <a:avLst/>
          </a:prstGeom>
          <a:solidFill>
            <a:srgbClr val="F2A03D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4157" y="2217877"/>
            <a:ext cx="273406" cy="27340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315200" y="20574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City Authorities</a:t>
            </a:r>
            <a:endParaRPr lang="en-US" sz="2000" dirty="0"/>
          </a:p>
        </p:txBody>
      </p:sp>
      <p:sp>
        <p:nvSpPr>
          <p:cNvPr id="24" name="Shape 16"/>
          <p:cNvSpPr/>
          <p:nvPr/>
        </p:nvSpPr>
        <p:spPr>
          <a:xfrm>
            <a:off x="6583680" y="2834640"/>
            <a:ext cx="457200" cy="457200"/>
          </a:xfrm>
          <a:prstGeom prst="ellipse">
            <a:avLst/>
          </a:prstGeom>
          <a:solidFill>
            <a:srgbClr val="16354F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7124" y="2958084"/>
            <a:ext cx="210312" cy="2103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223760" y="2834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D5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which problems matter most</a:t>
            </a:r>
            <a:endParaRPr lang="en-US" sz="1400" dirty="0"/>
          </a:p>
        </p:txBody>
      </p:sp>
      <p:sp>
        <p:nvSpPr>
          <p:cNvPr id="27" name="Shape 18"/>
          <p:cNvSpPr/>
          <p:nvPr/>
        </p:nvSpPr>
        <p:spPr>
          <a:xfrm>
            <a:off x="6583680" y="3630168"/>
            <a:ext cx="457200" cy="457200"/>
          </a:xfrm>
          <a:prstGeom prst="ellipse">
            <a:avLst/>
          </a:prstGeom>
          <a:solidFill>
            <a:srgbClr val="16354F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7124" y="3753612"/>
            <a:ext cx="210312" cy="21031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223760" y="36301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D5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duplicate reports as one problem</a:t>
            </a:r>
            <a:endParaRPr lang="en-US" sz="1400" dirty="0"/>
          </a:p>
        </p:txBody>
      </p:sp>
      <p:sp>
        <p:nvSpPr>
          <p:cNvPr id="30" name="Shape 20"/>
          <p:cNvSpPr/>
          <p:nvPr/>
        </p:nvSpPr>
        <p:spPr>
          <a:xfrm>
            <a:off x="6583680" y="4425696"/>
            <a:ext cx="457200" cy="457200"/>
          </a:xfrm>
          <a:prstGeom prst="ellipse">
            <a:avLst/>
          </a:prstGeom>
          <a:solidFill>
            <a:srgbClr val="16354F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7124" y="4549140"/>
            <a:ext cx="210312" cy="2103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223760" y="442569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D5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resolution performance over time</a:t>
            </a:r>
            <a:endParaRPr lang="en-US" sz="1400" dirty="0"/>
          </a:p>
        </p:txBody>
      </p:sp>
      <p:sp>
        <p:nvSpPr>
          <p:cNvPr id="33" name="Shape 22"/>
          <p:cNvSpPr/>
          <p:nvPr/>
        </p:nvSpPr>
        <p:spPr>
          <a:xfrm>
            <a:off x="6583680" y="5221224"/>
            <a:ext cx="457200" cy="457200"/>
          </a:xfrm>
          <a:prstGeom prst="ellipse">
            <a:avLst/>
          </a:prstGeom>
          <a:solidFill>
            <a:srgbClr val="16354F"/>
          </a:solidFill>
          <a:ln/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07124" y="5344668"/>
            <a:ext cx="210312" cy="210312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7223760" y="522122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D5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public trust through transparency</a:t>
            </a:r>
            <a:endParaRPr lang="en-US" sz="1400" dirty="0"/>
          </a:p>
        </p:txBody>
      </p:sp>
      <p:sp>
        <p:nvSpPr>
          <p:cNvPr id="36" name="Text 24"/>
          <p:cNvSpPr/>
          <p:nvPr/>
        </p:nvSpPr>
        <p:spPr>
          <a:xfrm>
            <a:off x="112471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0" cy="7955280"/>
          </a:xfrm>
          <a:prstGeom prst="line">
            <a:avLst/>
          </a:prstGeom>
          <a:noFill/>
          <a:ln w="12700">
            <a:solidFill>
              <a:srgbClr val="11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4560" y="-548640"/>
            <a:ext cx="0" cy="7955280"/>
          </a:xfrm>
          <a:prstGeom prst="line">
            <a:avLst/>
          </a:prstGeom>
          <a:noFill/>
          <a:ln w="12700">
            <a:solidFill>
              <a:srgbClr val="11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97760" y="-548640"/>
            <a:ext cx="0" cy="7955280"/>
          </a:xfrm>
          <a:prstGeom prst="line">
            <a:avLst/>
          </a:prstGeom>
          <a:noFill/>
          <a:ln w="12700">
            <a:solidFill>
              <a:srgbClr val="112E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70960" y="-548640"/>
            <a:ext cx="0" cy="7955280"/>
          </a:xfrm>
          <a:prstGeom prst="line">
            <a:avLst/>
          </a:prstGeom>
          <a:noFill/>
          <a:ln w="12700">
            <a:solidFill>
              <a:srgbClr val="112E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44160" y="-548640"/>
            <a:ext cx="0" cy="7955280"/>
          </a:xfrm>
          <a:prstGeom prst="line">
            <a:avLst/>
          </a:prstGeom>
          <a:noFill/>
          <a:ln w="12700">
            <a:solidFill>
              <a:srgbClr val="112E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7360" y="-548640"/>
            <a:ext cx="0" cy="7955280"/>
          </a:xfrm>
          <a:prstGeom prst="line">
            <a:avLst/>
          </a:prstGeom>
          <a:noFill/>
          <a:ln w="12700">
            <a:solidFill>
              <a:srgbClr val="112E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90560" y="-548640"/>
            <a:ext cx="0" cy="7955280"/>
          </a:xfrm>
          <a:prstGeom prst="line">
            <a:avLst/>
          </a:prstGeom>
          <a:noFill/>
          <a:ln w="12700">
            <a:solidFill>
              <a:srgbClr val="112E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63760" y="-548640"/>
            <a:ext cx="0" cy="7955280"/>
          </a:xfrm>
          <a:prstGeom prst="line">
            <a:avLst/>
          </a:prstGeom>
          <a:noFill/>
          <a:ln w="12700">
            <a:solidFill>
              <a:srgbClr val="11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36960" y="-548640"/>
            <a:ext cx="0" cy="7955280"/>
          </a:xfrm>
          <a:prstGeom prst="line">
            <a:avLst/>
          </a:prstGeom>
          <a:noFill/>
          <a:ln w="12700">
            <a:solidFill>
              <a:srgbClr val="112E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710160" y="-548640"/>
            <a:ext cx="0" cy="7955280"/>
          </a:xfrm>
          <a:prstGeom prst="line">
            <a:avLst/>
          </a:prstGeom>
          <a:noFill/>
          <a:ln w="12700">
            <a:solidFill>
              <a:srgbClr val="112E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-548640" y="-548640"/>
            <a:ext cx="13258800" cy="0"/>
          </a:xfrm>
          <a:prstGeom prst="line">
            <a:avLst/>
          </a:prstGeom>
          <a:noFill/>
          <a:ln w="12700">
            <a:solidFill>
              <a:srgbClr val="112E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548640" y="777240"/>
            <a:ext cx="13258800" cy="0"/>
          </a:xfrm>
          <a:prstGeom prst="line">
            <a:avLst/>
          </a:prstGeom>
          <a:noFill/>
          <a:ln w="12700">
            <a:solidFill>
              <a:srgbClr val="112E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-548640" y="2103120"/>
            <a:ext cx="13258800" cy="0"/>
          </a:xfrm>
          <a:prstGeom prst="line">
            <a:avLst/>
          </a:prstGeom>
          <a:noFill/>
          <a:ln w="12700">
            <a:solidFill>
              <a:srgbClr val="112E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-548640" y="3429000"/>
            <a:ext cx="13258800" cy="0"/>
          </a:xfrm>
          <a:prstGeom prst="line">
            <a:avLst/>
          </a:prstGeom>
          <a:noFill/>
          <a:ln w="12700">
            <a:solidFill>
              <a:srgbClr val="112E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-548640" y="4754880"/>
            <a:ext cx="13258800" cy="0"/>
          </a:xfrm>
          <a:prstGeom prst="line">
            <a:avLst/>
          </a:prstGeom>
          <a:noFill/>
          <a:ln w="12700">
            <a:solidFill>
              <a:srgbClr val="112E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-548640" y="6080760"/>
            <a:ext cx="13258800" cy="0"/>
          </a:xfrm>
          <a:prstGeom prst="line">
            <a:avLst/>
          </a:prstGeom>
          <a:noFill/>
          <a:ln w="12700">
            <a:solidFill>
              <a:srgbClr val="112E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-548640" y="7406640"/>
            <a:ext cx="13258800" cy="0"/>
          </a:xfrm>
          <a:prstGeom prst="line">
            <a:avLst/>
          </a:prstGeom>
          <a:noFill/>
          <a:ln w="12700">
            <a:solidFill>
              <a:srgbClr val="112E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modern, reliable technology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640080" y="1783080"/>
            <a:ext cx="2542032" cy="4251960"/>
          </a:xfrm>
          <a:prstGeom prst="roundRect">
            <a:avLst>
              <a:gd name="adj" fmla="val 3597"/>
            </a:avLst>
          </a:prstGeom>
          <a:solidFill>
            <a:srgbClr val="16354F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" y="2011680"/>
            <a:ext cx="566928" cy="566928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319" y="2164751"/>
            <a:ext cx="260787" cy="260787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508760" y="2011680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841248" y="2770632"/>
            <a:ext cx="2139696" cy="13716"/>
          </a:xfrm>
          <a:prstGeom prst="rect">
            <a:avLst/>
          </a:prstGeom>
          <a:solidFill>
            <a:srgbClr val="2A4D68"/>
          </a:solidFill>
          <a:ln/>
        </p:spPr>
      </p:sp>
      <p:sp>
        <p:nvSpPr>
          <p:cNvPr id="26" name="Shape 23"/>
          <p:cNvSpPr/>
          <p:nvPr/>
        </p:nvSpPr>
        <p:spPr>
          <a:xfrm>
            <a:off x="841248" y="2953512"/>
            <a:ext cx="2139696" cy="548640"/>
          </a:xfrm>
          <a:prstGeom prst="roundRect">
            <a:avLst>
              <a:gd name="adj" fmla="val 11667"/>
            </a:avLst>
          </a:prstGeom>
          <a:solidFill>
            <a:srgbClr val="112E45"/>
          </a:solidFill>
          <a:ln/>
        </p:spPr>
      </p:sp>
      <p:sp>
        <p:nvSpPr>
          <p:cNvPr id="27" name="Shape 24"/>
          <p:cNvSpPr/>
          <p:nvPr/>
        </p:nvSpPr>
        <p:spPr>
          <a:xfrm>
            <a:off x="960120" y="3054096"/>
            <a:ext cx="347472" cy="347472"/>
          </a:xfrm>
          <a:prstGeom prst="ellipse">
            <a:avLst/>
          </a:prstGeom>
          <a:solidFill>
            <a:srgbClr val="1B3F5E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37" y="3147913"/>
            <a:ext cx="159837" cy="159837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426464" y="295351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841248" y="3630168"/>
            <a:ext cx="2139696" cy="548640"/>
          </a:xfrm>
          <a:prstGeom prst="roundRect">
            <a:avLst>
              <a:gd name="adj" fmla="val 11667"/>
            </a:avLst>
          </a:prstGeom>
          <a:solidFill>
            <a:srgbClr val="112E45"/>
          </a:solidFill>
          <a:ln/>
        </p:spPr>
      </p:sp>
      <p:sp>
        <p:nvSpPr>
          <p:cNvPr id="31" name="Shape 27"/>
          <p:cNvSpPr/>
          <p:nvPr/>
        </p:nvSpPr>
        <p:spPr>
          <a:xfrm>
            <a:off x="960120" y="3730752"/>
            <a:ext cx="347472" cy="347472"/>
          </a:xfrm>
          <a:prstGeom prst="ellipse">
            <a:avLst/>
          </a:prstGeom>
          <a:solidFill>
            <a:srgbClr val="1B3F5E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937" y="3824569"/>
            <a:ext cx="159837" cy="159837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426464" y="36301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250" dirty="0"/>
          </a:p>
        </p:txBody>
      </p:sp>
      <p:sp>
        <p:nvSpPr>
          <p:cNvPr id="34" name="Shape 29"/>
          <p:cNvSpPr/>
          <p:nvPr/>
        </p:nvSpPr>
        <p:spPr>
          <a:xfrm>
            <a:off x="841248" y="4306824"/>
            <a:ext cx="2139696" cy="548640"/>
          </a:xfrm>
          <a:prstGeom prst="roundRect">
            <a:avLst>
              <a:gd name="adj" fmla="val 11667"/>
            </a:avLst>
          </a:prstGeom>
          <a:solidFill>
            <a:srgbClr val="112E45"/>
          </a:solidFill>
          <a:ln/>
        </p:spPr>
      </p:sp>
      <p:sp>
        <p:nvSpPr>
          <p:cNvPr id="35" name="Shape 30"/>
          <p:cNvSpPr/>
          <p:nvPr/>
        </p:nvSpPr>
        <p:spPr>
          <a:xfrm>
            <a:off x="960120" y="4407408"/>
            <a:ext cx="347472" cy="347472"/>
          </a:xfrm>
          <a:prstGeom prst="ellipse">
            <a:avLst/>
          </a:prstGeom>
          <a:solidFill>
            <a:srgbClr val="1B3F5E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937" y="4501225"/>
            <a:ext cx="159837" cy="159837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426464" y="430682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50" dirty="0"/>
          </a:p>
        </p:txBody>
      </p:sp>
      <p:sp>
        <p:nvSpPr>
          <p:cNvPr id="38" name="Shape 32"/>
          <p:cNvSpPr/>
          <p:nvPr/>
        </p:nvSpPr>
        <p:spPr>
          <a:xfrm>
            <a:off x="841248" y="4983480"/>
            <a:ext cx="2139696" cy="548640"/>
          </a:xfrm>
          <a:prstGeom prst="roundRect">
            <a:avLst>
              <a:gd name="adj" fmla="val 11667"/>
            </a:avLst>
          </a:prstGeom>
          <a:solidFill>
            <a:srgbClr val="112E45"/>
          </a:solidFill>
          <a:ln/>
        </p:spPr>
      </p:sp>
      <p:sp>
        <p:nvSpPr>
          <p:cNvPr id="39" name="Shape 33"/>
          <p:cNvSpPr/>
          <p:nvPr/>
        </p:nvSpPr>
        <p:spPr>
          <a:xfrm>
            <a:off x="960120" y="5084064"/>
            <a:ext cx="347472" cy="347472"/>
          </a:xfrm>
          <a:prstGeom prst="ellipse">
            <a:avLst/>
          </a:prstGeom>
          <a:solidFill>
            <a:srgbClr val="1B3F5E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937" y="5177881"/>
            <a:ext cx="159837" cy="159837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426464" y="498348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50" dirty="0"/>
          </a:p>
        </p:txBody>
      </p:sp>
      <p:sp>
        <p:nvSpPr>
          <p:cNvPr id="42" name="Shape 35"/>
          <p:cNvSpPr/>
          <p:nvPr/>
        </p:nvSpPr>
        <p:spPr>
          <a:xfrm>
            <a:off x="3328416" y="1783080"/>
            <a:ext cx="2542032" cy="4251960"/>
          </a:xfrm>
          <a:prstGeom prst="roundRect">
            <a:avLst>
              <a:gd name="adj" fmla="val 3597"/>
            </a:avLst>
          </a:prstGeom>
          <a:solidFill>
            <a:srgbClr val="16354F"/>
          </a:solidFill>
          <a:ln/>
        </p:spPr>
      </p:sp>
      <p:sp>
        <p:nvSpPr>
          <p:cNvPr id="43" name="Shape 36"/>
          <p:cNvSpPr/>
          <p:nvPr/>
        </p:nvSpPr>
        <p:spPr>
          <a:xfrm>
            <a:off x="3529584" y="2011680"/>
            <a:ext cx="566928" cy="566928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2655" y="2164751"/>
            <a:ext cx="260787" cy="260787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4197096" y="2011680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50" dirty="0"/>
          </a:p>
        </p:txBody>
      </p:sp>
      <p:sp>
        <p:nvSpPr>
          <p:cNvPr id="46" name="Shape 38"/>
          <p:cNvSpPr/>
          <p:nvPr/>
        </p:nvSpPr>
        <p:spPr>
          <a:xfrm>
            <a:off x="3529584" y="2770632"/>
            <a:ext cx="2139696" cy="13716"/>
          </a:xfrm>
          <a:prstGeom prst="rect">
            <a:avLst/>
          </a:prstGeom>
          <a:solidFill>
            <a:srgbClr val="2A4D68"/>
          </a:solidFill>
          <a:ln/>
        </p:spPr>
      </p:sp>
      <p:sp>
        <p:nvSpPr>
          <p:cNvPr id="47" name="Shape 39"/>
          <p:cNvSpPr/>
          <p:nvPr/>
        </p:nvSpPr>
        <p:spPr>
          <a:xfrm>
            <a:off x="3529584" y="2953512"/>
            <a:ext cx="2139696" cy="548640"/>
          </a:xfrm>
          <a:prstGeom prst="roundRect">
            <a:avLst>
              <a:gd name="adj" fmla="val 11667"/>
            </a:avLst>
          </a:prstGeom>
          <a:solidFill>
            <a:srgbClr val="112E45"/>
          </a:solidFill>
          <a:ln/>
        </p:spPr>
      </p:sp>
      <p:sp>
        <p:nvSpPr>
          <p:cNvPr id="48" name="Shape 40"/>
          <p:cNvSpPr/>
          <p:nvPr/>
        </p:nvSpPr>
        <p:spPr>
          <a:xfrm>
            <a:off x="3648456" y="3054096"/>
            <a:ext cx="347472" cy="347472"/>
          </a:xfrm>
          <a:prstGeom prst="ellipse">
            <a:avLst/>
          </a:prstGeom>
          <a:solidFill>
            <a:srgbClr val="1B3F5E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2273" y="3147913"/>
            <a:ext cx="159837" cy="159837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4114800" y="295351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50" dirty="0"/>
          </a:p>
        </p:txBody>
      </p:sp>
      <p:sp>
        <p:nvSpPr>
          <p:cNvPr id="51" name="Shape 42"/>
          <p:cNvSpPr/>
          <p:nvPr/>
        </p:nvSpPr>
        <p:spPr>
          <a:xfrm>
            <a:off x="3529584" y="3630168"/>
            <a:ext cx="2139696" cy="548640"/>
          </a:xfrm>
          <a:prstGeom prst="roundRect">
            <a:avLst>
              <a:gd name="adj" fmla="val 11667"/>
            </a:avLst>
          </a:prstGeom>
          <a:solidFill>
            <a:srgbClr val="112E45"/>
          </a:solidFill>
          <a:ln/>
        </p:spPr>
      </p:sp>
      <p:sp>
        <p:nvSpPr>
          <p:cNvPr id="52" name="Shape 43"/>
          <p:cNvSpPr/>
          <p:nvPr/>
        </p:nvSpPr>
        <p:spPr>
          <a:xfrm>
            <a:off x="3648456" y="3730752"/>
            <a:ext cx="347472" cy="347472"/>
          </a:xfrm>
          <a:prstGeom prst="ellipse">
            <a:avLst/>
          </a:prstGeom>
          <a:solidFill>
            <a:srgbClr val="1B3F5E"/>
          </a:solidFill>
          <a:ln/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2273" y="3824569"/>
            <a:ext cx="159837" cy="159837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4114800" y="36301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250" dirty="0"/>
          </a:p>
        </p:txBody>
      </p:sp>
      <p:sp>
        <p:nvSpPr>
          <p:cNvPr id="55" name="Shape 45"/>
          <p:cNvSpPr/>
          <p:nvPr/>
        </p:nvSpPr>
        <p:spPr>
          <a:xfrm>
            <a:off x="3529584" y="4306824"/>
            <a:ext cx="2139696" cy="548640"/>
          </a:xfrm>
          <a:prstGeom prst="roundRect">
            <a:avLst>
              <a:gd name="adj" fmla="val 11667"/>
            </a:avLst>
          </a:prstGeom>
          <a:solidFill>
            <a:srgbClr val="112E45"/>
          </a:solidFill>
          <a:ln/>
        </p:spPr>
      </p:sp>
      <p:sp>
        <p:nvSpPr>
          <p:cNvPr id="56" name="Shape 46"/>
          <p:cNvSpPr/>
          <p:nvPr/>
        </p:nvSpPr>
        <p:spPr>
          <a:xfrm>
            <a:off x="3648456" y="4407408"/>
            <a:ext cx="347472" cy="347472"/>
          </a:xfrm>
          <a:prstGeom prst="ellipse">
            <a:avLst/>
          </a:prstGeom>
          <a:solidFill>
            <a:srgbClr val="1B3F5E"/>
          </a:solidFill>
          <a:ln/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2273" y="4501225"/>
            <a:ext cx="159837" cy="159837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4114800" y="430682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50" dirty="0"/>
          </a:p>
        </p:txBody>
      </p:sp>
      <p:sp>
        <p:nvSpPr>
          <p:cNvPr id="59" name="Shape 48"/>
          <p:cNvSpPr/>
          <p:nvPr/>
        </p:nvSpPr>
        <p:spPr>
          <a:xfrm>
            <a:off x="3529584" y="4983480"/>
            <a:ext cx="2139696" cy="548640"/>
          </a:xfrm>
          <a:prstGeom prst="roundRect">
            <a:avLst>
              <a:gd name="adj" fmla="val 11667"/>
            </a:avLst>
          </a:prstGeom>
          <a:solidFill>
            <a:srgbClr val="112E45"/>
          </a:solidFill>
          <a:ln/>
        </p:spPr>
      </p:sp>
      <p:sp>
        <p:nvSpPr>
          <p:cNvPr id="60" name="Shape 49"/>
          <p:cNvSpPr/>
          <p:nvPr/>
        </p:nvSpPr>
        <p:spPr>
          <a:xfrm>
            <a:off x="3648456" y="5084064"/>
            <a:ext cx="347472" cy="347472"/>
          </a:xfrm>
          <a:prstGeom prst="ellipse">
            <a:avLst/>
          </a:prstGeom>
          <a:solidFill>
            <a:srgbClr val="1B3F5E"/>
          </a:solidFill>
          <a:ln/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2273" y="5177881"/>
            <a:ext cx="159837" cy="159837"/>
          </a:xfrm>
          <a:prstGeom prst="rect">
            <a:avLst/>
          </a:prstGeom>
        </p:spPr>
      </p:pic>
      <p:sp>
        <p:nvSpPr>
          <p:cNvPr id="62" name="Text 50"/>
          <p:cNvSpPr/>
          <p:nvPr/>
        </p:nvSpPr>
        <p:spPr>
          <a:xfrm>
            <a:off x="4114800" y="498348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50" dirty="0"/>
          </a:p>
        </p:txBody>
      </p:sp>
      <p:sp>
        <p:nvSpPr>
          <p:cNvPr id="63" name="Shape 51"/>
          <p:cNvSpPr/>
          <p:nvPr/>
        </p:nvSpPr>
        <p:spPr>
          <a:xfrm>
            <a:off x="6016752" y="1783080"/>
            <a:ext cx="2542032" cy="4251960"/>
          </a:xfrm>
          <a:prstGeom prst="roundRect">
            <a:avLst>
              <a:gd name="adj" fmla="val 3597"/>
            </a:avLst>
          </a:prstGeom>
          <a:solidFill>
            <a:srgbClr val="16354F"/>
          </a:solidFill>
          <a:ln/>
        </p:spPr>
      </p:sp>
      <p:sp>
        <p:nvSpPr>
          <p:cNvPr id="64" name="Shape 52"/>
          <p:cNvSpPr/>
          <p:nvPr/>
        </p:nvSpPr>
        <p:spPr>
          <a:xfrm>
            <a:off x="6217920" y="2011680"/>
            <a:ext cx="566928" cy="566928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6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0991" y="2164751"/>
            <a:ext cx="260787" cy="260787"/>
          </a:xfrm>
          <a:prstGeom prst="rect">
            <a:avLst/>
          </a:prstGeom>
        </p:spPr>
      </p:pic>
      <p:sp>
        <p:nvSpPr>
          <p:cNvPr id="66" name="Text 53"/>
          <p:cNvSpPr/>
          <p:nvPr/>
        </p:nvSpPr>
        <p:spPr>
          <a:xfrm>
            <a:off x="6885432" y="2011680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&amp; Location</a:t>
            </a:r>
            <a:endParaRPr lang="en-US" sz="1450" dirty="0"/>
          </a:p>
        </p:txBody>
      </p:sp>
      <p:sp>
        <p:nvSpPr>
          <p:cNvPr id="67" name="Shape 54"/>
          <p:cNvSpPr/>
          <p:nvPr/>
        </p:nvSpPr>
        <p:spPr>
          <a:xfrm>
            <a:off x="6217920" y="2770632"/>
            <a:ext cx="2139696" cy="13716"/>
          </a:xfrm>
          <a:prstGeom prst="rect">
            <a:avLst/>
          </a:prstGeom>
          <a:solidFill>
            <a:srgbClr val="2A4D68"/>
          </a:solidFill>
          <a:ln/>
        </p:spPr>
      </p:sp>
      <p:sp>
        <p:nvSpPr>
          <p:cNvPr id="68" name="Shape 55"/>
          <p:cNvSpPr/>
          <p:nvPr/>
        </p:nvSpPr>
        <p:spPr>
          <a:xfrm>
            <a:off x="6217920" y="2953512"/>
            <a:ext cx="2139696" cy="548640"/>
          </a:xfrm>
          <a:prstGeom prst="roundRect">
            <a:avLst>
              <a:gd name="adj" fmla="val 11667"/>
            </a:avLst>
          </a:prstGeom>
          <a:solidFill>
            <a:srgbClr val="112E45"/>
          </a:solidFill>
          <a:ln/>
        </p:spPr>
      </p:sp>
      <p:sp>
        <p:nvSpPr>
          <p:cNvPr id="69" name="Shape 56"/>
          <p:cNvSpPr/>
          <p:nvPr/>
        </p:nvSpPr>
        <p:spPr>
          <a:xfrm>
            <a:off x="6336792" y="3054096"/>
            <a:ext cx="347472" cy="347472"/>
          </a:xfrm>
          <a:prstGeom prst="ellipse">
            <a:avLst/>
          </a:prstGeom>
          <a:solidFill>
            <a:srgbClr val="1B3F5E"/>
          </a:solidFill>
          <a:ln/>
        </p:spPr>
      </p:sp>
      <p:pic>
        <p:nvPicPr>
          <p:cNvPr id="7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0609" y="3147913"/>
            <a:ext cx="159837" cy="159837"/>
          </a:xfrm>
          <a:prstGeom prst="rect">
            <a:avLst/>
          </a:prstGeom>
        </p:spPr>
      </p:pic>
      <p:sp>
        <p:nvSpPr>
          <p:cNvPr id="71" name="Text 57"/>
          <p:cNvSpPr/>
          <p:nvPr/>
        </p:nvSpPr>
        <p:spPr>
          <a:xfrm>
            <a:off x="6803136" y="295351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</a:t>
            </a:r>
            <a:endParaRPr lang="en-US" sz="1250" dirty="0"/>
          </a:p>
        </p:txBody>
      </p:sp>
      <p:sp>
        <p:nvSpPr>
          <p:cNvPr id="72" name="Shape 58"/>
          <p:cNvSpPr/>
          <p:nvPr/>
        </p:nvSpPr>
        <p:spPr>
          <a:xfrm>
            <a:off x="6217920" y="3630168"/>
            <a:ext cx="2139696" cy="548640"/>
          </a:xfrm>
          <a:prstGeom prst="roundRect">
            <a:avLst>
              <a:gd name="adj" fmla="val 11667"/>
            </a:avLst>
          </a:prstGeom>
          <a:solidFill>
            <a:srgbClr val="112E45"/>
          </a:solidFill>
          <a:ln/>
        </p:spPr>
      </p:sp>
      <p:sp>
        <p:nvSpPr>
          <p:cNvPr id="73" name="Shape 59"/>
          <p:cNvSpPr/>
          <p:nvPr/>
        </p:nvSpPr>
        <p:spPr>
          <a:xfrm>
            <a:off x="6336792" y="3730752"/>
            <a:ext cx="347472" cy="347472"/>
          </a:xfrm>
          <a:prstGeom prst="ellipse">
            <a:avLst/>
          </a:prstGeom>
          <a:solidFill>
            <a:srgbClr val="1B3F5E"/>
          </a:solidFill>
          <a:ln/>
        </p:spPr>
      </p:sp>
      <p:pic>
        <p:nvPicPr>
          <p:cNvPr id="7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0609" y="3824569"/>
            <a:ext cx="159837" cy="159837"/>
          </a:xfrm>
          <a:prstGeom prst="rect">
            <a:avLst/>
          </a:prstGeom>
        </p:spPr>
      </p:pic>
      <p:sp>
        <p:nvSpPr>
          <p:cNvPr id="75" name="Text 60"/>
          <p:cNvSpPr/>
          <p:nvPr/>
        </p:nvSpPr>
        <p:spPr>
          <a:xfrm>
            <a:off x="6803136" y="36301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</a:t>
            </a:r>
            <a:endParaRPr lang="en-US" sz="1250" dirty="0"/>
          </a:p>
        </p:txBody>
      </p:sp>
      <p:sp>
        <p:nvSpPr>
          <p:cNvPr id="76" name="Shape 61"/>
          <p:cNvSpPr/>
          <p:nvPr/>
        </p:nvSpPr>
        <p:spPr>
          <a:xfrm>
            <a:off x="6217920" y="4306824"/>
            <a:ext cx="2139696" cy="548640"/>
          </a:xfrm>
          <a:prstGeom prst="roundRect">
            <a:avLst>
              <a:gd name="adj" fmla="val 11667"/>
            </a:avLst>
          </a:prstGeom>
          <a:solidFill>
            <a:srgbClr val="112E45"/>
          </a:solidFill>
          <a:ln/>
        </p:spPr>
      </p:sp>
      <p:sp>
        <p:nvSpPr>
          <p:cNvPr id="77" name="Shape 62"/>
          <p:cNvSpPr/>
          <p:nvPr/>
        </p:nvSpPr>
        <p:spPr>
          <a:xfrm>
            <a:off x="6336792" y="4407408"/>
            <a:ext cx="347472" cy="347472"/>
          </a:xfrm>
          <a:prstGeom prst="ellipse">
            <a:avLst/>
          </a:prstGeom>
          <a:solidFill>
            <a:srgbClr val="1B3F5E"/>
          </a:solidFill>
          <a:ln/>
        </p:spPr>
      </p:sp>
      <p:pic>
        <p:nvPicPr>
          <p:cNvPr id="7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0609" y="4501225"/>
            <a:ext cx="159837" cy="159837"/>
          </a:xfrm>
          <a:prstGeom prst="rect">
            <a:avLst/>
          </a:prstGeom>
        </p:spPr>
      </p:pic>
      <p:sp>
        <p:nvSpPr>
          <p:cNvPr id="79" name="Text 63"/>
          <p:cNvSpPr/>
          <p:nvPr/>
        </p:nvSpPr>
        <p:spPr>
          <a:xfrm>
            <a:off x="6803136" y="430682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</a:t>
            </a:r>
            <a:endParaRPr lang="en-US" sz="1250" dirty="0"/>
          </a:p>
        </p:txBody>
      </p:sp>
      <p:sp>
        <p:nvSpPr>
          <p:cNvPr id="80" name="Shape 64"/>
          <p:cNvSpPr/>
          <p:nvPr/>
        </p:nvSpPr>
        <p:spPr>
          <a:xfrm>
            <a:off x="6217920" y="4983480"/>
            <a:ext cx="2139696" cy="548640"/>
          </a:xfrm>
          <a:prstGeom prst="roundRect">
            <a:avLst>
              <a:gd name="adj" fmla="val 11667"/>
            </a:avLst>
          </a:prstGeom>
          <a:solidFill>
            <a:srgbClr val="112E45"/>
          </a:solidFill>
          <a:ln/>
        </p:spPr>
      </p:sp>
      <p:sp>
        <p:nvSpPr>
          <p:cNvPr id="81" name="Shape 65"/>
          <p:cNvSpPr/>
          <p:nvPr/>
        </p:nvSpPr>
        <p:spPr>
          <a:xfrm>
            <a:off x="6336792" y="5084064"/>
            <a:ext cx="347472" cy="347472"/>
          </a:xfrm>
          <a:prstGeom prst="ellipse">
            <a:avLst/>
          </a:prstGeom>
          <a:solidFill>
            <a:srgbClr val="1B3F5E"/>
          </a:solidFill>
          <a:ln/>
        </p:spPr>
      </p:sp>
      <p:pic>
        <p:nvPicPr>
          <p:cNvPr id="8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0609" y="5177881"/>
            <a:ext cx="159837" cy="159837"/>
          </a:xfrm>
          <a:prstGeom prst="rect">
            <a:avLst/>
          </a:prstGeom>
        </p:spPr>
      </p:pic>
      <p:sp>
        <p:nvSpPr>
          <p:cNvPr id="83" name="Text 66"/>
          <p:cNvSpPr/>
          <p:nvPr/>
        </p:nvSpPr>
        <p:spPr>
          <a:xfrm>
            <a:off x="6803136" y="498348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</a:t>
            </a:r>
            <a:endParaRPr lang="en-US" sz="1250" dirty="0"/>
          </a:p>
        </p:txBody>
      </p:sp>
      <p:sp>
        <p:nvSpPr>
          <p:cNvPr id="84" name="Shape 67"/>
          <p:cNvSpPr/>
          <p:nvPr/>
        </p:nvSpPr>
        <p:spPr>
          <a:xfrm>
            <a:off x="8705088" y="1783080"/>
            <a:ext cx="2542032" cy="4251960"/>
          </a:xfrm>
          <a:prstGeom prst="roundRect">
            <a:avLst>
              <a:gd name="adj" fmla="val 3597"/>
            </a:avLst>
          </a:prstGeom>
          <a:solidFill>
            <a:srgbClr val="16354F"/>
          </a:solidFill>
          <a:ln/>
        </p:spPr>
      </p:sp>
      <p:sp>
        <p:nvSpPr>
          <p:cNvPr id="85" name="Shape 68"/>
          <p:cNvSpPr/>
          <p:nvPr/>
        </p:nvSpPr>
        <p:spPr>
          <a:xfrm>
            <a:off x="8906256" y="2011680"/>
            <a:ext cx="566928" cy="566928"/>
          </a:xfrm>
          <a:prstGeom prst="ellipse">
            <a:avLst/>
          </a:prstGeom>
          <a:solidFill>
            <a:srgbClr val="1B7A8C"/>
          </a:solidFill>
          <a:ln/>
        </p:spPr>
      </p:sp>
      <p:pic>
        <p:nvPicPr>
          <p:cNvPr id="8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59327" y="2164751"/>
            <a:ext cx="260787" cy="260787"/>
          </a:xfrm>
          <a:prstGeom prst="rect">
            <a:avLst/>
          </a:prstGeom>
        </p:spPr>
      </p:pic>
      <p:sp>
        <p:nvSpPr>
          <p:cNvPr id="87" name="Text 69"/>
          <p:cNvSpPr/>
          <p:nvPr/>
        </p:nvSpPr>
        <p:spPr>
          <a:xfrm>
            <a:off x="9573768" y="2011680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Intelligence</a:t>
            </a:r>
            <a:endParaRPr lang="en-US" sz="1450" dirty="0"/>
          </a:p>
        </p:txBody>
      </p:sp>
      <p:sp>
        <p:nvSpPr>
          <p:cNvPr id="88" name="Shape 70"/>
          <p:cNvSpPr/>
          <p:nvPr/>
        </p:nvSpPr>
        <p:spPr>
          <a:xfrm>
            <a:off x="8906256" y="2770632"/>
            <a:ext cx="2139696" cy="13716"/>
          </a:xfrm>
          <a:prstGeom prst="rect">
            <a:avLst/>
          </a:prstGeom>
          <a:solidFill>
            <a:srgbClr val="2A4D68"/>
          </a:solidFill>
          <a:ln/>
        </p:spPr>
      </p:sp>
      <p:sp>
        <p:nvSpPr>
          <p:cNvPr id="89" name="Shape 71"/>
          <p:cNvSpPr/>
          <p:nvPr/>
        </p:nvSpPr>
        <p:spPr>
          <a:xfrm>
            <a:off x="8906256" y="2953512"/>
            <a:ext cx="2139696" cy="548640"/>
          </a:xfrm>
          <a:prstGeom prst="roundRect">
            <a:avLst>
              <a:gd name="adj" fmla="val 11667"/>
            </a:avLst>
          </a:prstGeom>
          <a:solidFill>
            <a:srgbClr val="112E45"/>
          </a:solidFill>
          <a:ln/>
        </p:spPr>
      </p:sp>
      <p:sp>
        <p:nvSpPr>
          <p:cNvPr id="90" name="Shape 72"/>
          <p:cNvSpPr/>
          <p:nvPr/>
        </p:nvSpPr>
        <p:spPr>
          <a:xfrm>
            <a:off x="9025128" y="3054096"/>
            <a:ext cx="347472" cy="347472"/>
          </a:xfrm>
          <a:prstGeom prst="ellipse">
            <a:avLst/>
          </a:prstGeom>
          <a:solidFill>
            <a:srgbClr val="1B3F5E"/>
          </a:solidFill>
          <a:ln/>
        </p:spPr>
      </p:sp>
      <p:pic>
        <p:nvPicPr>
          <p:cNvPr id="9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18945" y="3147913"/>
            <a:ext cx="159837" cy="159837"/>
          </a:xfrm>
          <a:prstGeom prst="rect">
            <a:avLst/>
          </a:prstGeom>
        </p:spPr>
      </p:pic>
      <p:sp>
        <p:nvSpPr>
          <p:cNvPr id="92" name="Text 73"/>
          <p:cNvSpPr/>
          <p:nvPr/>
        </p:nvSpPr>
        <p:spPr>
          <a:xfrm>
            <a:off x="9491472" y="295351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93" name="Shape 74"/>
          <p:cNvSpPr/>
          <p:nvPr/>
        </p:nvSpPr>
        <p:spPr>
          <a:xfrm>
            <a:off x="8906256" y="3630168"/>
            <a:ext cx="2139696" cy="548640"/>
          </a:xfrm>
          <a:prstGeom prst="roundRect">
            <a:avLst>
              <a:gd name="adj" fmla="val 11667"/>
            </a:avLst>
          </a:prstGeom>
          <a:solidFill>
            <a:srgbClr val="112E45"/>
          </a:solidFill>
          <a:ln/>
        </p:spPr>
      </p:sp>
      <p:sp>
        <p:nvSpPr>
          <p:cNvPr id="94" name="Shape 75"/>
          <p:cNvSpPr/>
          <p:nvPr/>
        </p:nvSpPr>
        <p:spPr>
          <a:xfrm>
            <a:off x="9025128" y="3730752"/>
            <a:ext cx="347472" cy="347472"/>
          </a:xfrm>
          <a:prstGeom prst="ellipse">
            <a:avLst/>
          </a:prstGeom>
          <a:solidFill>
            <a:srgbClr val="1B3F5E"/>
          </a:solidFill>
          <a:ln/>
        </p:spPr>
      </p:sp>
      <p:pic>
        <p:nvPicPr>
          <p:cNvPr id="9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18945" y="3824569"/>
            <a:ext cx="159837" cy="159837"/>
          </a:xfrm>
          <a:prstGeom prst="rect">
            <a:avLst/>
          </a:prstGeom>
        </p:spPr>
      </p:pic>
      <p:sp>
        <p:nvSpPr>
          <p:cNvPr id="96" name="Text 76"/>
          <p:cNvSpPr/>
          <p:nvPr/>
        </p:nvSpPr>
        <p:spPr>
          <a:xfrm>
            <a:off x="9491472" y="36301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97" name="Shape 77"/>
          <p:cNvSpPr/>
          <p:nvPr/>
        </p:nvSpPr>
        <p:spPr>
          <a:xfrm>
            <a:off x="8906256" y="4306824"/>
            <a:ext cx="2139696" cy="548640"/>
          </a:xfrm>
          <a:prstGeom prst="roundRect">
            <a:avLst>
              <a:gd name="adj" fmla="val 11667"/>
            </a:avLst>
          </a:prstGeom>
          <a:solidFill>
            <a:srgbClr val="112E45"/>
          </a:solidFill>
          <a:ln/>
        </p:spPr>
      </p:sp>
      <p:sp>
        <p:nvSpPr>
          <p:cNvPr id="98" name="Shape 78"/>
          <p:cNvSpPr/>
          <p:nvPr/>
        </p:nvSpPr>
        <p:spPr>
          <a:xfrm>
            <a:off x="9025128" y="4407408"/>
            <a:ext cx="347472" cy="347472"/>
          </a:xfrm>
          <a:prstGeom prst="ellipse">
            <a:avLst/>
          </a:prstGeom>
          <a:solidFill>
            <a:srgbClr val="1B3F5E"/>
          </a:solidFill>
          <a:ln/>
        </p:spPr>
      </p:sp>
      <p:pic>
        <p:nvPicPr>
          <p:cNvPr id="9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18945" y="4501225"/>
            <a:ext cx="159837" cy="159837"/>
          </a:xfrm>
          <a:prstGeom prst="rect">
            <a:avLst/>
          </a:prstGeom>
        </p:spPr>
      </p:pic>
      <p:sp>
        <p:nvSpPr>
          <p:cNvPr id="100" name="Text 79"/>
          <p:cNvSpPr/>
          <p:nvPr/>
        </p:nvSpPr>
        <p:spPr>
          <a:xfrm>
            <a:off x="9491472" y="430682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250" dirty="0"/>
          </a:p>
        </p:txBody>
      </p:sp>
      <p:sp>
        <p:nvSpPr>
          <p:cNvPr id="101" name="Shape 80"/>
          <p:cNvSpPr/>
          <p:nvPr/>
        </p:nvSpPr>
        <p:spPr>
          <a:xfrm>
            <a:off x="8906256" y="4983480"/>
            <a:ext cx="2139696" cy="548640"/>
          </a:xfrm>
          <a:prstGeom prst="roundRect">
            <a:avLst>
              <a:gd name="adj" fmla="val 11667"/>
            </a:avLst>
          </a:prstGeom>
          <a:solidFill>
            <a:srgbClr val="112E45"/>
          </a:solidFill>
          <a:ln/>
        </p:spPr>
      </p:sp>
      <p:sp>
        <p:nvSpPr>
          <p:cNvPr id="102" name="Shape 81"/>
          <p:cNvSpPr/>
          <p:nvPr/>
        </p:nvSpPr>
        <p:spPr>
          <a:xfrm>
            <a:off x="9025128" y="5084064"/>
            <a:ext cx="347472" cy="347472"/>
          </a:xfrm>
          <a:prstGeom prst="ellipse">
            <a:avLst/>
          </a:prstGeom>
          <a:solidFill>
            <a:srgbClr val="1B3F5E"/>
          </a:solidFill>
          <a:ln/>
        </p:spPr>
      </p:sp>
      <p:pic>
        <p:nvPicPr>
          <p:cNvPr id="10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18945" y="5177881"/>
            <a:ext cx="159837" cy="159837"/>
          </a:xfrm>
          <a:prstGeom prst="rect">
            <a:avLst/>
          </a:prstGeom>
        </p:spPr>
      </p:pic>
      <p:sp>
        <p:nvSpPr>
          <p:cNvPr id="104" name="Text 82"/>
          <p:cNvSpPr/>
          <p:nvPr/>
        </p:nvSpPr>
        <p:spPr>
          <a:xfrm>
            <a:off x="9491472" y="498348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</a:t>
            </a:r>
            <a:endParaRPr lang="en-US" sz="1250" dirty="0"/>
          </a:p>
        </p:txBody>
      </p:sp>
      <p:sp>
        <p:nvSpPr>
          <p:cNvPr id="105" name="Text 83"/>
          <p:cNvSpPr/>
          <p:nvPr/>
        </p:nvSpPr>
        <p:spPr>
          <a:xfrm>
            <a:off x="1124712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Amar Shohor</dc:title>
  <dc:subject>PptxGenJS Presentation</dc:subject>
  <dc:creator>Amar Shohor</dc:creator>
  <cp:lastModifiedBy>Amar Shohor</cp:lastModifiedBy>
  <cp:revision>1</cp:revision>
  <dcterms:created xsi:type="dcterms:W3CDTF">2026-07-31T17:14:10Z</dcterms:created>
  <dcterms:modified xsi:type="dcterms:W3CDTF">2026-07-31T17:14:10Z</dcterms:modified>
</cp:coreProperties>
</file>